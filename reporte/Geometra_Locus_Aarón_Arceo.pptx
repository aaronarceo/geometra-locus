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2693" autoAdjust="0"/>
  </p:normalViewPr>
  <p:slideViewPr>
    <p:cSldViewPr snapToGrid="0" snapToObjects="1">
      <p:cViewPr varScale="1">
        <p:scale>
          <a:sx n="69" d="100"/>
          <a:sy n="69" d="100"/>
        </p:scale>
        <p:origin x="9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ón Eduardo Arceo Arjona" userId="5af0f6b40f4d1158" providerId="LiveId" clId="{1BD0AC37-A04B-4894-8137-71B33FB51EC5}"/>
    <pc:docChg chg="modSld">
      <pc:chgData name="Aarón Eduardo Arceo Arjona" userId="5af0f6b40f4d1158" providerId="LiveId" clId="{1BD0AC37-A04B-4894-8137-71B33FB51EC5}" dt="2026-10-02T05:40:19.043" v="83" actId="20577"/>
      <pc:docMkLst>
        <pc:docMk/>
      </pc:docMkLst>
      <pc:sldChg chg="modSp mod modNotesTx">
        <pc:chgData name="Aarón Eduardo Arceo Arjona" userId="5af0f6b40f4d1158" providerId="LiveId" clId="{1BD0AC37-A04B-4894-8137-71B33FB51EC5}" dt="2026-10-02T05:39:49.441" v="11" actId="20577"/>
        <pc:sldMkLst>
          <pc:docMk/>
          <pc:sldMk cId="0" sldId="256"/>
        </pc:sldMkLst>
        <pc:spChg chg="mod">
          <ac:chgData name="Aarón Eduardo Arceo Arjona" userId="5af0f6b40f4d1158" providerId="LiveId" clId="{1BD0AC37-A04B-4894-8137-71B33FB51EC5}" dt="2026-10-01T23:17:14.852" v="6" actId="20577"/>
          <ac:spMkLst>
            <pc:docMk/>
            <pc:sldMk cId="0" sldId="256"/>
            <ac:spMk id="12" creationId="{00000000-0000-0000-0000-000000000000}"/>
          </ac:spMkLst>
        </pc:spChg>
        <pc:picChg chg="mod">
          <ac:chgData name="Aarón Eduardo Arceo Arjona" userId="5af0f6b40f4d1158" providerId="LiveId" clId="{1BD0AC37-A04B-4894-8137-71B33FB51EC5}" dt="2026-10-01T23:16:39.193" v="4" actId="14826"/>
          <ac:picMkLst>
            <pc:docMk/>
            <pc:sldMk cId="0" sldId="256"/>
            <ac:picMk id="4" creationId="{00000000-0000-0000-0000-000000000000}"/>
          </ac:picMkLst>
        </pc:picChg>
      </pc:sldChg>
      <pc:sldChg chg="modNotesTx">
        <pc:chgData name="Aarón Eduardo Arceo Arjona" userId="5af0f6b40f4d1158" providerId="LiveId" clId="{1BD0AC37-A04B-4894-8137-71B33FB51EC5}" dt="2026-10-02T05:39:53.419" v="14" actId="20577"/>
        <pc:sldMkLst>
          <pc:docMk/>
          <pc:sldMk cId="0" sldId="257"/>
        </pc:sldMkLst>
      </pc:sldChg>
      <pc:sldChg chg="modNotesTx">
        <pc:chgData name="Aarón Eduardo Arceo Arjona" userId="5af0f6b40f4d1158" providerId="LiveId" clId="{1BD0AC37-A04B-4894-8137-71B33FB51EC5}" dt="2026-10-02T05:39:57.657" v="26" actId="20577"/>
        <pc:sldMkLst>
          <pc:docMk/>
          <pc:sldMk cId="0" sldId="258"/>
        </pc:sldMkLst>
      </pc:sldChg>
      <pc:sldChg chg="mod modShow modNotesTx">
        <pc:chgData name="Aarón Eduardo Arceo Arjona" userId="5af0f6b40f4d1158" providerId="LiveId" clId="{1BD0AC37-A04B-4894-8137-71B33FB51EC5}" dt="2026-10-02T05:40:00.869" v="27" actId="20577"/>
        <pc:sldMkLst>
          <pc:docMk/>
          <pc:sldMk cId="0" sldId="259"/>
        </pc:sldMkLst>
      </pc:sldChg>
      <pc:sldChg chg="modNotesTx">
        <pc:chgData name="Aarón Eduardo Arceo Arjona" userId="5af0f6b40f4d1158" providerId="LiveId" clId="{1BD0AC37-A04B-4894-8137-71B33FB51EC5}" dt="2026-10-02T05:40:02.959" v="28" actId="20577"/>
        <pc:sldMkLst>
          <pc:docMk/>
          <pc:sldMk cId="0" sldId="260"/>
        </pc:sldMkLst>
      </pc:sldChg>
      <pc:sldChg chg="mod modShow modNotesTx">
        <pc:chgData name="Aarón Eduardo Arceo Arjona" userId="5af0f6b40f4d1158" providerId="LiveId" clId="{1BD0AC37-A04B-4894-8137-71B33FB51EC5}" dt="2026-10-02T05:40:08.586" v="31" actId="20577"/>
        <pc:sldMkLst>
          <pc:docMk/>
          <pc:sldMk cId="0" sldId="261"/>
        </pc:sldMkLst>
      </pc:sldChg>
      <pc:sldChg chg="mod modShow modNotesTx">
        <pc:chgData name="Aarón Eduardo Arceo Arjona" userId="5af0f6b40f4d1158" providerId="LiveId" clId="{1BD0AC37-A04B-4894-8137-71B33FB51EC5}" dt="2026-10-02T05:40:15.647" v="82" actId="6549"/>
        <pc:sldMkLst>
          <pc:docMk/>
          <pc:sldMk cId="0" sldId="262"/>
        </pc:sldMkLst>
      </pc:sldChg>
      <pc:sldChg chg="modNotesTx">
        <pc:chgData name="Aarón Eduardo Arceo Arjona" userId="5af0f6b40f4d1158" providerId="LiveId" clId="{1BD0AC37-A04B-4894-8137-71B33FB51EC5}" dt="2026-10-02T05:40:19.043" v="83" actId="20577"/>
        <pc:sldMkLst>
          <pc:docMk/>
          <pc:sldMk cId="0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865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1356" y="868643"/>
            <a:ext cx="6236450" cy="391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1041356" y="1564512"/>
            <a:ext cx="10337844" cy="448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1356" y="868643"/>
            <a:ext cx="6236450" cy="391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1041356" y="1564512"/>
            <a:ext cx="10337844" cy="448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1786"/>
            <a:ext cx="12191928" cy="76141"/>
          </a:xfrm>
          <a:prstGeom prst="rect">
            <a:avLst/>
          </a:prstGeom>
          <a:solidFill>
            <a:srgbClr val="77181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6667427" y="380927"/>
            <a:ext cx="1396927" cy="1396927"/>
          </a:xfrm>
          <a:prstGeom prst="rect">
            <a:avLst/>
          </a:prstGeom>
          <a:solidFill>
            <a:srgbClr val="A92727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 t="224" b="224"/>
          <a:stretch/>
        </p:blipFill>
        <p:spPr>
          <a:xfrm>
            <a:off x="6984927" y="698427"/>
            <a:ext cx="3809927" cy="3809927"/>
          </a:xfrm>
          <a:prstGeom prst="rect">
            <a:avLst/>
          </a:prstGeom>
          <a:effectLst>
            <a:outerShdw blurRad="317500" dist="127000" dir="5400000" algn="bl" rotWithShape="0">
              <a:srgbClr val="282832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362627" y="647627"/>
            <a:ext cx="1244527" cy="1244527"/>
          </a:xfrm>
          <a:prstGeom prst="rect">
            <a:avLst/>
          </a:prstGeom>
          <a:noFill/>
          <a:ln w="25400">
            <a:solidFill>
              <a:srgbClr val="28283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3"/>
          <p:cNvSpPr/>
          <p:nvPr/>
        </p:nvSpPr>
        <p:spPr>
          <a:xfrm>
            <a:off x="6984927" y="4635427"/>
            <a:ext cx="1777927" cy="152356"/>
          </a:xfrm>
          <a:prstGeom prst="rect">
            <a:avLst/>
          </a:prstGeom>
          <a:solidFill>
            <a:srgbClr val="DEE7E7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7" name="Image 1" descr="Logotipo de Geometra"/>
          <p:cNvPicPr>
            <a:picLocks noChangeAspect="1"/>
          </p:cNvPicPr>
          <p:nvPr/>
        </p:nvPicPr>
        <p:blipFill>
          <a:blip r:embed="rId4"/>
          <a:srcRect l="-97" r="-97"/>
          <a:stretch/>
        </p:blipFill>
        <p:spPr>
          <a:xfrm>
            <a:off x="812785" y="609571"/>
            <a:ext cx="1269927" cy="101592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12785" y="2158927"/>
            <a:ext cx="38071" cy="2349427"/>
          </a:xfrm>
          <a:prstGeom prst="rect">
            <a:avLst/>
          </a:prstGeom>
          <a:solidFill>
            <a:srgbClr val="A9272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5"/>
          <p:cNvSpPr>
            <a:spLocks noGrp="1"/>
          </p:cNvSpPr>
          <p:nvPr>
            <p:ph type="title"/>
          </p:nvPr>
        </p:nvSpPr>
        <p:spPr>
          <a:xfrm>
            <a:off x="1079427" y="2095427"/>
            <a:ext cx="5232325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000"/>
              </a:lnSpc>
              <a:buNone/>
            </a:pPr>
            <a:r>
              <a:rPr lang="en-US" sz="9000" b="1" i="0" kern="0" spc="-200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Locus</a:t>
            </a:r>
            <a:endParaRPr lang="en-US" sz="9000" dirty="0"/>
          </a:p>
        </p:txBody>
      </p:sp>
      <p:sp>
        <p:nvSpPr>
          <p:cNvPr id="10" name="Text 6"/>
          <p:cNvSpPr/>
          <p:nvPr/>
        </p:nvSpPr>
        <p:spPr>
          <a:xfrm>
            <a:off x="1104856" y="3365427"/>
            <a:ext cx="5363135" cy="843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dirty="0">
                <a:solidFill>
                  <a:srgbClr val="28283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Te ayudamos a encontrar tu próxima cafetería favorita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812785" y="5079927"/>
            <a:ext cx="5886375" cy="273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Aarón Eduardo Arceo Arjona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12785" y="5372071"/>
            <a:ext cx="719447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26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Proyecto </a:t>
            </a:r>
            <a:r>
              <a:rPr lang="en-US" sz="1200" dirty="0" err="1">
                <a:solidFill>
                  <a:srgbClr val="5B626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Integrador</a:t>
            </a:r>
            <a:r>
              <a:rPr lang="en-US" sz="1200" dirty="0">
                <a:solidFill>
                  <a:srgbClr val="5B626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- Módulo 5 - Diplomado en Ciencia de Datos - Octubre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28" cy="76141"/>
          </a:xfrm>
          <a:prstGeom prst="rect">
            <a:avLst/>
          </a:prstGeom>
          <a:solidFill>
            <a:srgbClr val="77181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812785" y="609571"/>
            <a:ext cx="50785" cy="660356"/>
          </a:xfrm>
          <a:prstGeom prst="rect">
            <a:avLst/>
          </a:prstGeom>
          <a:solidFill>
            <a:srgbClr val="A9272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1041356" y="619713"/>
            <a:ext cx="8667374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kern="0" spc="200" dirty="0">
                <a:solidFill>
                  <a:srgbClr val="A9272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 MERCADO</a:t>
            </a:r>
            <a:endParaRPr lang="en-US" sz="12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1041356" y="868642"/>
            <a:ext cx="10097912" cy="41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Las cafeterías se concentran en el centro y el norte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12785" y="1625498"/>
            <a:ext cx="334867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000"/>
              </a:lnSpc>
              <a:buNone/>
            </a:pPr>
            <a:r>
              <a:rPr lang="en-US" sz="9000" b="1" kern="0" spc="-200" dirty="0">
                <a:solidFill>
                  <a:srgbClr val="A9272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1,619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812785" y="2819283"/>
            <a:ext cx="3348676" cy="520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cafeterías en la zona urbana de Mérida, según Google Places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785" y="3365280"/>
            <a:ext cx="3348676" cy="41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403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12785" y="3807134"/>
            <a:ext cx="3348676" cy="42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D434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 541 AGEB urbanas tienen al menos una cafetería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785" y="4254207"/>
            <a:ext cx="3348676" cy="41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211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12785" y="4696061"/>
            <a:ext cx="3348676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D434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cafeterías en solo 10 AGEB del centro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44853" y="1625498"/>
            <a:ext cx="2616125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Cafeterías por AGEB</a:t>
            </a:r>
            <a:endParaRPr lang="en-US" sz="1200" dirty="0"/>
          </a:p>
        </p:txBody>
      </p:sp>
      <p:pic>
        <p:nvPicPr>
          <p:cNvPr id="13" name="Image 0" descr="Mapa de Mérida por AGEB urbana, más oscuro donde hay más cafeterías; la mayor concentración está en el centro"/>
          <p:cNvPicPr>
            <a:picLocks noChangeAspect="1"/>
          </p:cNvPicPr>
          <p:nvPr/>
        </p:nvPicPr>
        <p:blipFill>
          <a:blip r:embed="rId3"/>
          <a:srcRect l="-21" r="-21"/>
          <a:stretch/>
        </p:blipFill>
        <p:spPr>
          <a:xfrm>
            <a:off x="4444853" y="1879424"/>
            <a:ext cx="2305036" cy="279392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238781" y="1625498"/>
            <a:ext cx="2616125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Cada punto es una cafetería</a:t>
            </a:r>
            <a:endParaRPr lang="en-US" sz="1200" dirty="0"/>
          </a:p>
        </p:txBody>
      </p:sp>
      <p:pic>
        <p:nvPicPr>
          <p:cNvPr id="15" name="Image 1" descr="Mapa de las 1,619 cafeterías de Mérida como puntos sobre las AGEB urbanas"/>
          <p:cNvPicPr>
            <a:picLocks noChangeAspect="1"/>
          </p:cNvPicPr>
          <p:nvPr/>
        </p:nvPicPr>
        <p:blipFill>
          <a:blip r:embed="rId4"/>
          <a:srcRect l="-71" r="-71"/>
          <a:stretch/>
        </p:blipFill>
        <p:spPr>
          <a:xfrm>
            <a:off x="7238781" y="1879424"/>
            <a:ext cx="2305036" cy="2793927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444853" y="4825853"/>
            <a:ext cx="1904927" cy="10157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CE4E4"/>
              </a:gs>
              <a:gs pos="50000">
                <a:srgbClr val="AB8083"/>
              </a:gs>
              <a:gs pos="100000">
                <a:srgbClr val="791C22"/>
              </a:gs>
            </a:gsLst>
            <a:lin ang="0" scaled="0"/>
          </a:gra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3"/>
          <p:cNvSpPr/>
          <p:nvPr/>
        </p:nvSpPr>
        <p:spPr>
          <a:xfrm>
            <a:off x="4444853" y="4965568"/>
            <a:ext cx="685727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5B626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028980" y="4965568"/>
            <a:ext cx="1320727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60"/>
              </a:lnSpc>
              <a:buNone/>
            </a:pPr>
            <a:r>
              <a:rPr lang="en-US" sz="1200" dirty="0">
                <a:solidFill>
                  <a:srgbClr val="5B626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35 por AGEB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444853" y="5333854"/>
            <a:ext cx="4444927" cy="680567"/>
          </a:xfrm>
          <a:prstGeom prst="roundRect">
            <a:avLst>
              <a:gd name="adj" fmla="val 11197"/>
            </a:avLst>
          </a:prstGeom>
          <a:solidFill>
            <a:srgbClr val="F4F4F2"/>
          </a:solidFill>
          <a:ln/>
        </p:spPr>
        <p:txBody>
          <a:bodyPr wrap="square" lIns="155482" tIns="104682" rIns="32802" bIns="792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434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DENUE (INEGI):</a:t>
            </a:r>
            <a:r>
              <a:rPr lang="en-US" sz="1200" dirty="0">
                <a:solidFill>
                  <a:srgbClr val="3D434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las cafeterías crecieron 9.9 % entre 2024 y 2026, frente a 4.7 % del resto del sector.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12785" y="6304214"/>
            <a:ext cx="8110145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5B626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Fuente: elaboración propia con datos de Google Places, Marco Geoestadístico 2024 y DENUE (INEGI).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28" cy="76141"/>
          </a:xfrm>
          <a:prstGeom prst="rect">
            <a:avLst/>
          </a:prstGeom>
          <a:solidFill>
            <a:srgbClr val="77181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812785" y="609571"/>
            <a:ext cx="50785" cy="660356"/>
          </a:xfrm>
          <a:prstGeom prst="rect">
            <a:avLst/>
          </a:prstGeom>
          <a:solidFill>
            <a:srgbClr val="A9272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1041356" y="619714"/>
            <a:ext cx="6662681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kern="0" spc="200" dirty="0">
                <a:solidFill>
                  <a:srgbClr val="A9272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LAS RESEÑAS</a:t>
            </a:r>
            <a:endParaRPr lang="en-US" sz="12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1041356" y="868643"/>
            <a:ext cx="7762347" cy="41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Las estrellas son altas en toda la ciudad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12785" y="1625498"/>
            <a:ext cx="334867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000"/>
              </a:lnSpc>
              <a:buNone/>
            </a:pPr>
            <a:r>
              <a:rPr lang="en-US" sz="9000" b="1" kern="0" spc="-200" dirty="0">
                <a:solidFill>
                  <a:srgbClr val="A9272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4.7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812785" y="2819284"/>
            <a:ext cx="3348676" cy="520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calificación mediana por AGEB, en las 232 con al menos tres cafeterías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785" y="3365280"/>
            <a:ext cx="3348676" cy="41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94.4 %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12785" y="3807135"/>
            <a:ext cx="3348676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D434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 esas AGEB tiene 4.0 estrellas o más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785" y="4056064"/>
            <a:ext cx="3348676" cy="41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77.2 %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12785" y="4497918"/>
            <a:ext cx="3348676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D434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 las 17,422 reseñas son de 5 estrellas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44853" y="1625498"/>
            <a:ext cx="2746935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Calificación promedio por AGEB</a:t>
            </a:r>
            <a:endParaRPr lang="en-US" sz="1200" dirty="0"/>
          </a:p>
        </p:txBody>
      </p:sp>
      <p:pic>
        <p:nvPicPr>
          <p:cNvPr id="13" name="Image 0" descr="Mapa de la calificación promedio de Google por AGEB: verde en casi toda la ciudad; en gris las AGEB sin dato"/>
          <p:cNvPicPr>
            <a:picLocks noChangeAspect="1"/>
          </p:cNvPicPr>
          <p:nvPr/>
        </p:nvPicPr>
        <p:blipFill>
          <a:blip r:embed="rId3"/>
          <a:srcRect l="-21" r="-21"/>
          <a:stretch/>
        </p:blipFill>
        <p:spPr>
          <a:xfrm>
            <a:off x="4444853" y="1879425"/>
            <a:ext cx="2305036" cy="279392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238781" y="1625498"/>
            <a:ext cx="2877745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Reseñas promedio por cafetería</a:t>
            </a:r>
            <a:endParaRPr lang="en-US" sz="1200" dirty="0"/>
          </a:p>
        </p:txBody>
      </p:sp>
      <p:pic>
        <p:nvPicPr>
          <p:cNvPr id="15" name="Image 1" descr="Mapa del número promedio de reseñas por cafetería en cada AGEB: valores altos solo en unas pocas zonas"/>
          <p:cNvPicPr>
            <a:picLocks noChangeAspect="1"/>
          </p:cNvPicPr>
          <p:nvPr/>
        </p:nvPicPr>
        <p:blipFill>
          <a:blip r:embed="rId4"/>
          <a:srcRect l="-21" r="-21"/>
          <a:stretch/>
        </p:blipFill>
        <p:spPr>
          <a:xfrm>
            <a:off x="7238781" y="1879425"/>
            <a:ext cx="2305036" cy="2793927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444853" y="4825854"/>
            <a:ext cx="1904927" cy="10157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70226"/>
              </a:gs>
              <a:gs pos="25000">
                <a:srgbClr val="F88C51"/>
              </a:gs>
              <a:gs pos="50000">
                <a:srgbClr val="FFFEBE"/>
              </a:gs>
              <a:gs pos="75000">
                <a:srgbClr val="87CB67"/>
              </a:gs>
              <a:gs pos="100000">
                <a:srgbClr val="006837"/>
              </a:gs>
            </a:gsLst>
            <a:lin ang="0" scaled="0"/>
          </a:gra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3"/>
          <p:cNvSpPr/>
          <p:nvPr/>
        </p:nvSpPr>
        <p:spPr>
          <a:xfrm>
            <a:off x="4444853" y="4965568"/>
            <a:ext cx="685727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5B626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028980" y="4965568"/>
            <a:ext cx="1320727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60"/>
              </a:lnSpc>
              <a:buNone/>
            </a:pPr>
            <a:r>
              <a:rPr lang="en-US" sz="1200" dirty="0">
                <a:solidFill>
                  <a:srgbClr val="5B626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5 estrellas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238781" y="4825854"/>
            <a:ext cx="1777927" cy="10157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EE6E6"/>
              </a:gs>
              <a:gs pos="50000">
                <a:srgbClr val="C48787"/>
              </a:gs>
              <a:gs pos="100000">
                <a:srgbClr val="A92828"/>
              </a:gs>
            </a:gsLst>
            <a:lin ang="0" scaled="0"/>
          </a:gra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6"/>
          <p:cNvSpPr/>
          <p:nvPr/>
        </p:nvSpPr>
        <p:spPr>
          <a:xfrm>
            <a:off x="7238781" y="4965568"/>
            <a:ext cx="812727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5B626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menos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7949981" y="4965568"/>
            <a:ext cx="1066727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60"/>
              </a:lnSpc>
              <a:buNone/>
            </a:pPr>
            <a:r>
              <a:rPr lang="en-US" sz="1200" dirty="0">
                <a:solidFill>
                  <a:srgbClr val="5B626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más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444853" y="5333854"/>
            <a:ext cx="4571927" cy="680567"/>
          </a:xfrm>
          <a:prstGeom prst="roundRect">
            <a:avLst>
              <a:gd name="adj" fmla="val 11197"/>
            </a:avLst>
          </a:prstGeom>
          <a:solidFill>
            <a:srgbClr val="F4F4F2"/>
          </a:solidFill>
          <a:ln/>
        </p:spPr>
        <p:txBody>
          <a:bodyPr wrap="square" lIns="155482" tIns="104682" rIns="28992" bIns="792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34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Las reseñas se concentran en pocas zonas: reflejan la popularidad de algunos lugares, más que la oferta.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812785" y="6106071"/>
            <a:ext cx="8110145" cy="42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5B626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Fuente: elaboración propia con datos de Google Places, reseñas de Google Maps y Marco Geoestadístico 2024. En gris: AGEB sin dato.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28" cy="76141"/>
          </a:xfrm>
          <a:prstGeom prst="rect">
            <a:avLst/>
          </a:prstGeom>
          <a:solidFill>
            <a:srgbClr val="77181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812785" y="609572"/>
            <a:ext cx="50785" cy="660356"/>
          </a:xfrm>
          <a:prstGeom prst="rect">
            <a:avLst/>
          </a:prstGeom>
          <a:solidFill>
            <a:srgbClr val="A9272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1041356" y="619714"/>
            <a:ext cx="6184407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kern="0" spc="200" dirty="0">
                <a:solidFill>
                  <a:srgbClr val="A9272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 HALLAZGO</a:t>
            </a:r>
            <a:endParaRPr lang="en-US" sz="12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1041356" y="868643"/>
            <a:ext cx="7205134" cy="41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 diferencia está en lo que escriben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12785" y="1648355"/>
            <a:ext cx="152356" cy="152356"/>
          </a:xfrm>
          <a:prstGeom prst="roundRect">
            <a:avLst>
              <a:gd name="adj" fmla="val 50000"/>
            </a:avLst>
          </a:prstGeom>
          <a:solidFill>
            <a:srgbClr val="7D8F8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1053997" y="1625498"/>
            <a:ext cx="1573565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D434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Estrellas en Google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70087" y="1648355"/>
            <a:ext cx="152356" cy="152356"/>
          </a:xfrm>
          <a:prstGeom prst="roundRect">
            <a:avLst>
              <a:gd name="adj" fmla="val 50000"/>
            </a:avLst>
          </a:prstGeom>
          <a:solidFill>
            <a:srgbClr val="A9272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2911299" y="1625498"/>
            <a:ext cx="3391297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D434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Tono de sus reseñas (modelo de sentimiento)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02596" y="1625498"/>
            <a:ext cx="1180571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5B626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Escala de 1 a 5</a:t>
            </a:r>
            <a:endParaRPr lang="en-US" sz="1200" dirty="0"/>
          </a:p>
        </p:txBody>
      </p:sp>
      <p:pic>
        <p:nvPicPr>
          <p:cNvPr id="11" name="Image 0" descr="Estrellas en Google frente al tono de las reseñas: Starbucks sucursal 1, 4.5 contra 2.5; Starbucks sucursal 2, 4.4 contra 2.9; Caneroll MID, 3.6 contra 4.6"/>
          <p:cNvPicPr>
            <a:picLocks noChangeAspect="1"/>
          </p:cNvPicPr>
          <p:nvPr/>
        </p:nvPicPr>
        <p:blipFill>
          <a:blip r:embed="rId3"/>
          <a:srcRect t="-41" b="-41"/>
          <a:stretch/>
        </p:blipFill>
        <p:spPr>
          <a:xfrm>
            <a:off x="812785" y="2179213"/>
            <a:ext cx="10566357" cy="234942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517812" y="2268068"/>
            <a:ext cx="431727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5B626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105312" y="2268068"/>
            <a:ext cx="431727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5B626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92812" y="2268068"/>
            <a:ext cx="431727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5B626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80313" y="2268068"/>
            <a:ext cx="431727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5B626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867813" y="2268068"/>
            <a:ext cx="431727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5B626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2785" y="2814138"/>
            <a:ext cx="2616125" cy="278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95"/>
              </a:lnSpc>
              <a:buNone/>
            </a:pPr>
            <a:r>
              <a:rPr lang="en-US" sz="15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Starbucks · sucursal 1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12785" y="3512638"/>
            <a:ext cx="2616125" cy="278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95"/>
              </a:lnSpc>
              <a:buNone/>
            </a:pPr>
            <a:r>
              <a:rPr lang="en-US" sz="15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Starbucks · sucursal 2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12785" y="4211138"/>
            <a:ext cx="2616125" cy="278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95"/>
              </a:lnSpc>
              <a:buNone/>
            </a:pPr>
            <a:r>
              <a:rPr lang="en-US" sz="15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Caneroll MID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947063" y="2522068"/>
            <a:ext cx="685727" cy="25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5B626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4.5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772062" y="2522068"/>
            <a:ext cx="685727" cy="25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2.5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788313" y="3220568"/>
            <a:ext cx="685727" cy="25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5B626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4.4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407063" y="3220568"/>
            <a:ext cx="685727" cy="25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2.9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518312" y="3919068"/>
            <a:ext cx="685727" cy="25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5B626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3.6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105813" y="3919068"/>
            <a:ext cx="685727" cy="25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4.6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812785" y="6304215"/>
            <a:ext cx="8110145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5B626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Fuente: elaboración propia con datos de Google Places y el modelo de sentimiento de NLP Town.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28" cy="76141"/>
          </a:xfrm>
          <a:prstGeom prst="rect">
            <a:avLst/>
          </a:prstGeom>
          <a:solidFill>
            <a:srgbClr val="77181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812785" y="609572"/>
            <a:ext cx="50785" cy="660356"/>
          </a:xfrm>
          <a:prstGeom prst="rect">
            <a:avLst/>
          </a:prstGeom>
          <a:solidFill>
            <a:srgbClr val="A9272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1041356" y="619714"/>
            <a:ext cx="7099926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kern="0" spc="200" dirty="0">
                <a:solidFill>
                  <a:srgbClr val="A9272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1041356" y="868642"/>
            <a:ext cx="8271758" cy="41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Locus compara cafeterías por sus reseñas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12785" y="1803282"/>
            <a:ext cx="2158927" cy="1264855"/>
          </a:xfrm>
          <a:prstGeom prst="roundRect">
            <a:avLst>
              <a:gd name="adj" fmla="val 6024"/>
            </a:avLst>
          </a:prstGeom>
          <a:solidFill>
            <a:srgbClr val="77181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1192470" y="2158854"/>
            <a:ext cx="139955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1,619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35844" y="2692211"/>
            <a:ext cx="1712736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cafeterías depuradas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76341" y="1587413"/>
            <a:ext cx="431741" cy="431741"/>
          </a:xfrm>
          <a:prstGeom prst="roundRect">
            <a:avLst>
              <a:gd name="adj" fmla="val 50000"/>
            </a:avLst>
          </a:prstGeom>
          <a:solidFill>
            <a:srgbClr val="FBFBF8"/>
          </a:solidFill>
          <a:ln w="25400">
            <a:solidFill>
              <a:srgbClr val="77181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0" name="Image 0" descr="Glob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65212" y="1676282"/>
            <a:ext cx="253927" cy="253927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174853" y="1803282"/>
            <a:ext cx="2158927" cy="1264855"/>
          </a:xfrm>
          <a:prstGeom prst="roundRect">
            <a:avLst>
              <a:gd name="adj" fmla="val 6024"/>
            </a:avLst>
          </a:prstGeom>
          <a:solidFill>
            <a:srgbClr val="2828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3316501" y="2158854"/>
            <a:ext cx="187563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17,422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3249745" y="2692211"/>
            <a:ext cx="2009070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reseñas de Google Maps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038409" y="1587413"/>
            <a:ext cx="431741" cy="431741"/>
          </a:xfrm>
          <a:prstGeom prst="roundRect">
            <a:avLst>
              <a:gd name="adj" fmla="val 50000"/>
            </a:avLst>
          </a:prstGeom>
          <a:solidFill>
            <a:srgbClr val="FBFBF8"/>
          </a:solidFill>
          <a:ln w="25400">
            <a:solidFill>
              <a:srgbClr val="28283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5" name="Image 1" descr="Cha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27280" y="1676282"/>
            <a:ext cx="253927" cy="253927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536921" y="1803282"/>
            <a:ext cx="2158927" cy="1264855"/>
          </a:xfrm>
          <a:prstGeom prst="roundRect">
            <a:avLst>
              <a:gd name="adj" fmla="val 6024"/>
            </a:avLst>
          </a:prstGeom>
          <a:solidFill>
            <a:srgbClr val="C6D6D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3"/>
          <p:cNvSpPr/>
          <p:nvPr/>
        </p:nvSpPr>
        <p:spPr>
          <a:xfrm>
            <a:off x="6014149" y="2158854"/>
            <a:ext cx="120447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1,111</a:t>
            </a:r>
            <a:endParaRPr lang="en-US" sz="4000" dirty="0"/>
          </a:p>
        </p:txBody>
      </p:sp>
      <p:sp>
        <p:nvSpPr>
          <p:cNvPr id="18" name="Text 14"/>
          <p:cNvSpPr/>
          <p:nvPr/>
        </p:nvSpPr>
        <p:spPr>
          <a:xfrm>
            <a:off x="5560396" y="2692211"/>
            <a:ext cx="2111904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cafeterías recomendables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400478" y="1587413"/>
            <a:ext cx="431741" cy="431741"/>
          </a:xfrm>
          <a:prstGeom prst="roundRect">
            <a:avLst>
              <a:gd name="adj" fmla="val 50000"/>
            </a:avLst>
          </a:prstGeom>
          <a:solidFill>
            <a:srgbClr val="FBFBF8"/>
          </a:solidFill>
          <a:ln w="25400">
            <a:solidFill>
              <a:srgbClr val="C6D6D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0" name="Image 2" descr="CheckCircl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89348" y="1676282"/>
            <a:ext cx="253927" cy="253927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898989" y="1803282"/>
            <a:ext cx="3480153" cy="1511212"/>
          </a:xfrm>
          <a:prstGeom prst="roundRect">
            <a:avLst>
              <a:gd name="adj" fmla="val 5042"/>
            </a:avLst>
          </a:prstGeom>
          <a:solidFill>
            <a:srgbClr val="F4F4F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17"/>
          <p:cNvSpPr/>
          <p:nvPr/>
        </p:nvSpPr>
        <p:spPr>
          <a:xfrm>
            <a:off x="8102131" y="1981070"/>
            <a:ext cx="3166087" cy="665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434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Modelo secundario:</a:t>
            </a:r>
            <a:r>
              <a:rPr lang="en-US" sz="1200" dirty="0">
                <a:solidFill>
                  <a:srgbClr val="3D434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sentimiento con BERT multilingüe; coincide con las estrellas en 76.4 % de las reseñas.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102131" y="2709996"/>
            <a:ext cx="3166087" cy="452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434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Sin entrenar modelos:</a:t>
            </a:r>
            <a:r>
              <a:rPr lang="en-US" sz="1200" dirty="0">
                <a:solidFill>
                  <a:srgbClr val="3D434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todo es preentrenado.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12785" y="3619280"/>
            <a:ext cx="2317824" cy="718638"/>
          </a:xfrm>
          <a:prstGeom prst="roundRect">
            <a:avLst>
              <a:gd name="adj" fmla="val 10603"/>
            </a:avLst>
          </a:prstGeom>
          <a:solidFill>
            <a:srgbClr val="DEE7E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0"/>
          <p:cNvSpPr/>
          <p:nvPr/>
        </p:nvSpPr>
        <p:spPr>
          <a:xfrm>
            <a:off x="965141" y="3746209"/>
            <a:ext cx="2073505" cy="25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Reseñas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965141" y="4012850"/>
            <a:ext cx="2073505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D434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15,685 con texto</a:t>
            </a:r>
            <a:endParaRPr lang="en-US" sz="1200" dirty="0"/>
          </a:p>
        </p:txBody>
      </p:sp>
      <p:pic>
        <p:nvPicPr>
          <p:cNvPr id="27" name="Image 3" descr="flecha"/>
          <p:cNvPicPr>
            <a:picLocks noChangeAspect="1"/>
          </p:cNvPicPr>
          <p:nvPr/>
        </p:nvPicPr>
        <p:blipFill>
          <a:blip r:embed="rId6"/>
          <a:srcRect l="-7" r="-7"/>
          <a:stretch/>
        </p:blipFill>
        <p:spPr>
          <a:xfrm>
            <a:off x="3206750" y="3902385"/>
            <a:ext cx="279356" cy="152356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3562248" y="3619280"/>
            <a:ext cx="2317897" cy="718638"/>
          </a:xfrm>
          <a:prstGeom prst="roundRect">
            <a:avLst>
              <a:gd name="adj" fmla="val 10603"/>
            </a:avLst>
          </a:prstGeom>
          <a:solidFill>
            <a:srgbClr val="DEE7E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Text 23"/>
          <p:cNvSpPr/>
          <p:nvPr/>
        </p:nvSpPr>
        <p:spPr>
          <a:xfrm>
            <a:off x="3714603" y="3746209"/>
            <a:ext cx="2073581" cy="25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Modelo de lenguaje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3714603" y="4012850"/>
            <a:ext cx="2073581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D434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multilingüe, 384 dim.</a:t>
            </a:r>
            <a:endParaRPr lang="en-US" sz="1200" dirty="0"/>
          </a:p>
        </p:txBody>
      </p:sp>
      <p:pic>
        <p:nvPicPr>
          <p:cNvPr id="31" name="Image 4" descr="flecha"/>
          <p:cNvPicPr>
            <a:picLocks noChangeAspect="1"/>
          </p:cNvPicPr>
          <p:nvPr/>
        </p:nvPicPr>
        <p:blipFill>
          <a:blip r:embed="rId6"/>
          <a:srcRect l="-7" r="-7"/>
          <a:stretch/>
        </p:blipFill>
        <p:spPr>
          <a:xfrm>
            <a:off x="5956286" y="3902385"/>
            <a:ext cx="279356" cy="152356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6311783" y="3619280"/>
            <a:ext cx="2317824" cy="718638"/>
          </a:xfrm>
          <a:prstGeom prst="roundRect">
            <a:avLst>
              <a:gd name="adj" fmla="val 10603"/>
            </a:avLst>
          </a:prstGeom>
          <a:solidFill>
            <a:srgbClr val="DEE7E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3" name="Text 26"/>
          <p:cNvSpPr/>
          <p:nvPr/>
        </p:nvSpPr>
        <p:spPr>
          <a:xfrm>
            <a:off x="6464139" y="3746209"/>
            <a:ext cx="2073505" cy="25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Un vector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6464139" y="4012850"/>
            <a:ext cx="2073505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D434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por cafetería (promedio)</a:t>
            </a:r>
            <a:endParaRPr lang="en-US" sz="1200" dirty="0"/>
          </a:p>
        </p:txBody>
      </p:sp>
      <p:pic>
        <p:nvPicPr>
          <p:cNvPr id="35" name="Image 5" descr="flecha"/>
          <p:cNvPicPr>
            <a:picLocks noChangeAspect="1"/>
          </p:cNvPicPr>
          <p:nvPr/>
        </p:nvPicPr>
        <p:blipFill>
          <a:blip r:embed="rId6"/>
          <a:srcRect l="-7" r="-7"/>
          <a:stretch/>
        </p:blipFill>
        <p:spPr>
          <a:xfrm>
            <a:off x="8705748" y="3902385"/>
            <a:ext cx="279356" cy="152356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9061245" y="3619280"/>
            <a:ext cx="2317897" cy="718638"/>
          </a:xfrm>
          <a:prstGeom prst="roundRect">
            <a:avLst>
              <a:gd name="adj" fmla="val 10603"/>
            </a:avLst>
          </a:prstGeom>
          <a:solidFill>
            <a:srgbClr val="DEE7E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7" name="Text 29"/>
          <p:cNvSpPr/>
          <p:nvPr/>
        </p:nvSpPr>
        <p:spPr>
          <a:xfrm>
            <a:off x="9213601" y="3746209"/>
            <a:ext cx="2073581" cy="25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Similitud del coseno</a:t>
            </a:r>
            <a:endParaRPr lang="en-US" sz="1500" dirty="0"/>
          </a:p>
        </p:txBody>
      </p:sp>
      <p:sp>
        <p:nvSpPr>
          <p:cNvPr id="38" name="Text 30"/>
          <p:cNvSpPr/>
          <p:nvPr/>
        </p:nvSpPr>
        <p:spPr>
          <a:xfrm>
            <a:off x="9213601" y="4012850"/>
            <a:ext cx="2073581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D434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ponderada por nº de reseñas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815960" y="4645878"/>
            <a:ext cx="3867150" cy="1172442"/>
          </a:xfrm>
          <a:prstGeom prst="roundRect">
            <a:avLst>
              <a:gd name="adj" fmla="val 8395"/>
            </a:avLst>
          </a:prstGeom>
          <a:solidFill>
            <a:srgbClr val="FFFFFF"/>
          </a:solidFill>
          <a:ln w="6350">
            <a:solidFill>
              <a:srgbClr val="E3E8E8"/>
            </a:solidFill>
            <a:prstDash val="solid"/>
          </a:ln>
          <a:effectLst>
            <a:outerShdw blurRad="152400" dist="50800" dir="5400000" algn="bl" rotWithShape="0">
              <a:srgbClr val="282832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0" name="Shape 32"/>
          <p:cNvSpPr/>
          <p:nvPr/>
        </p:nvSpPr>
        <p:spPr>
          <a:xfrm>
            <a:off x="817489" y="4647409"/>
            <a:ext cx="3864093" cy="375855"/>
          </a:xfrm>
          <a:custGeom>
            <a:avLst/>
            <a:gdLst/>
            <a:ahLst/>
            <a:cxnLst/>
            <a:rect l="l" t="t" r="r" b="b"/>
            <a:pathLst>
              <a:path w="3864093" h="375855">
                <a:moveTo>
                  <a:pt x="0" y="96896"/>
                </a:moveTo>
                <a:arcTo wR="96896" hR="96896" stAng="10800000" swAng="5400000"/>
                <a:lnTo>
                  <a:pt x="3767197" y="0"/>
                </a:lnTo>
                <a:arcTo wR="96896" hR="96896" stAng="16200000" swAng="5400000"/>
                <a:lnTo>
                  <a:pt x="3864093" y="375855"/>
                </a:lnTo>
                <a:lnTo>
                  <a:pt x="0" y="375855"/>
                </a:lnTo>
                <a:close/>
              </a:path>
            </a:pathLst>
          </a:custGeom>
          <a:solidFill>
            <a:srgbClr val="A9272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1" name="Shape 33"/>
          <p:cNvSpPr/>
          <p:nvPr/>
        </p:nvSpPr>
        <p:spPr>
          <a:xfrm>
            <a:off x="995274" y="4784551"/>
            <a:ext cx="101571" cy="101571"/>
          </a:xfrm>
          <a:prstGeom prst="roundRect">
            <a:avLst>
              <a:gd name="adj" fmla="val 50000"/>
            </a:avLst>
          </a:prstGeom>
          <a:solidFill>
            <a:srgbClr val="FBFB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2" name="Text 34"/>
          <p:cNvSpPr/>
          <p:nvPr/>
        </p:nvSpPr>
        <p:spPr>
          <a:xfrm>
            <a:off x="1185701" y="4736263"/>
            <a:ext cx="1168312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kern="0" spc="150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FUNCIÓN 1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995274" y="5150191"/>
            <a:ext cx="3613778" cy="25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Por cafetería similar</a:t>
            </a:r>
            <a:endParaRPr lang="en-US" sz="1500" dirty="0"/>
          </a:p>
        </p:txBody>
      </p:sp>
      <p:sp>
        <p:nvSpPr>
          <p:cNvPr id="44" name="Text 36"/>
          <p:cNvSpPr/>
          <p:nvPr/>
        </p:nvSpPr>
        <p:spPr>
          <a:xfrm>
            <a:off x="995274" y="5416832"/>
            <a:ext cx="3613778" cy="273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3D434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Eliges una → las 3 más parecidas</a:t>
            </a:r>
            <a:endParaRPr lang="en-US" sz="1500" dirty="0"/>
          </a:p>
        </p:txBody>
      </p:sp>
      <p:sp>
        <p:nvSpPr>
          <p:cNvPr id="45" name="Shape 37"/>
          <p:cNvSpPr/>
          <p:nvPr/>
        </p:nvSpPr>
        <p:spPr>
          <a:xfrm>
            <a:off x="4892602" y="4645878"/>
            <a:ext cx="3867150" cy="1172442"/>
          </a:xfrm>
          <a:prstGeom prst="roundRect">
            <a:avLst>
              <a:gd name="adj" fmla="val 8395"/>
            </a:avLst>
          </a:prstGeom>
          <a:solidFill>
            <a:srgbClr val="FFFFFF"/>
          </a:solidFill>
          <a:ln w="6350">
            <a:solidFill>
              <a:srgbClr val="E3E8E8"/>
            </a:solidFill>
            <a:prstDash val="solid"/>
          </a:ln>
          <a:effectLst>
            <a:outerShdw blurRad="152400" dist="50800" dir="5400000" algn="bl" rotWithShape="0">
              <a:srgbClr val="282832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6" name="Shape 38"/>
          <p:cNvSpPr/>
          <p:nvPr/>
        </p:nvSpPr>
        <p:spPr>
          <a:xfrm>
            <a:off x="4894131" y="4647409"/>
            <a:ext cx="3864093" cy="375855"/>
          </a:xfrm>
          <a:custGeom>
            <a:avLst/>
            <a:gdLst/>
            <a:ahLst/>
            <a:cxnLst/>
            <a:rect l="l" t="t" r="r" b="b"/>
            <a:pathLst>
              <a:path w="3864093" h="375855">
                <a:moveTo>
                  <a:pt x="0" y="96896"/>
                </a:moveTo>
                <a:arcTo wR="96896" hR="96896" stAng="10800000" swAng="5400000"/>
                <a:lnTo>
                  <a:pt x="3767197" y="0"/>
                </a:lnTo>
                <a:arcTo wR="96896" hR="96896" stAng="16200000" swAng="5400000"/>
                <a:lnTo>
                  <a:pt x="3864093" y="375855"/>
                </a:lnTo>
                <a:lnTo>
                  <a:pt x="0" y="375855"/>
                </a:lnTo>
                <a:close/>
              </a:path>
            </a:pathLst>
          </a:custGeom>
          <a:solidFill>
            <a:srgbClr val="2828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7" name="Shape 39"/>
          <p:cNvSpPr/>
          <p:nvPr/>
        </p:nvSpPr>
        <p:spPr>
          <a:xfrm>
            <a:off x="5071916" y="4784551"/>
            <a:ext cx="101571" cy="101571"/>
          </a:xfrm>
          <a:prstGeom prst="roundRect">
            <a:avLst>
              <a:gd name="adj" fmla="val 50000"/>
            </a:avLst>
          </a:prstGeom>
          <a:solidFill>
            <a:srgbClr val="FBFB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8" name="Text 40"/>
          <p:cNvSpPr/>
          <p:nvPr/>
        </p:nvSpPr>
        <p:spPr>
          <a:xfrm>
            <a:off x="5262343" y="4736263"/>
            <a:ext cx="1197063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kern="0" spc="150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FUNCIÓN 2</a:t>
            </a:r>
            <a:endParaRPr lang="en-US" sz="1200" dirty="0"/>
          </a:p>
        </p:txBody>
      </p:sp>
      <p:sp>
        <p:nvSpPr>
          <p:cNvPr id="49" name="Text 41"/>
          <p:cNvSpPr/>
          <p:nvPr/>
        </p:nvSpPr>
        <p:spPr>
          <a:xfrm>
            <a:off x="5071916" y="5150191"/>
            <a:ext cx="3613778" cy="25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Por características</a:t>
            </a:r>
            <a:endParaRPr lang="en-US" sz="1500" dirty="0"/>
          </a:p>
        </p:txBody>
      </p:sp>
      <p:sp>
        <p:nvSpPr>
          <p:cNvPr id="50" name="Text 42"/>
          <p:cNvSpPr/>
          <p:nvPr/>
        </p:nvSpPr>
        <p:spPr>
          <a:xfrm>
            <a:off x="5071916" y="5416832"/>
            <a:ext cx="3613778" cy="273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3D434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Eliges de 20 → las 10 más afines</a:t>
            </a:r>
            <a:endParaRPr lang="en-US" sz="1500" dirty="0"/>
          </a:p>
        </p:txBody>
      </p:sp>
      <p:sp>
        <p:nvSpPr>
          <p:cNvPr id="51" name="Text 43"/>
          <p:cNvSpPr/>
          <p:nvPr/>
        </p:nvSpPr>
        <p:spPr>
          <a:xfrm>
            <a:off x="812785" y="6304214"/>
            <a:ext cx="8110145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5B626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Fuentes: INEGI (DENUE y Marco Geoestadístico), Google Places API y reseñas de Google Maps.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28" cy="76141"/>
          </a:xfrm>
          <a:prstGeom prst="rect">
            <a:avLst/>
          </a:prstGeom>
          <a:solidFill>
            <a:srgbClr val="77181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812785" y="609569"/>
            <a:ext cx="50785" cy="660356"/>
          </a:xfrm>
          <a:prstGeom prst="rect">
            <a:avLst/>
          </a:prstGeom>
          <a:solidFill>
            <a:srgbClr val="A9272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1041356" y="619714"/>
            <a:ext cx="5808252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kern="0" spc="200" dirty="0">
                <a:solidFill>
                  <a:srgbClr val="A9272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CÓMO SE HACE</a:t>
            </a:r>
            <a:endParaRPr lang="en-US" sz="12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1041356" y="868642"/>
            <a:ext cx="6766896" cy="41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 las reseñas a la recomendación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15960" y="1577888"/>
            <a:ext cx="5149866" cy="2598400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6350">
            <a:solidFill>
              <a:srgbClr val="E3E8E8"/>
            </a:solidFill>
            <a:prstDash val="solid"/>
          </a:ln>
          <a:effectLst>
            <a:outerShdw blurRad="152400" dist="50800" dir="5400000" algn="bl" rotWithShape="0">
              <a:srgbClr val="282832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17489" y="1579417"/>
            <a:ext cx="5146808" cy="375855"/>
          </a:xfrm>
          <a:custGeom>
            <a:avLst/>
            <a:gdLst/>
            <a:ahLst/>
            <a:cxnLst/>
            <a:rect l="l" t="t" r="r" b="b"/>
            <a:pathLst>
              <a:path w="5146808" h="375855">
                <a:moveTo>
                  <a:pt x="0" y="96896"/>
                </a:moveTo>
                <a:arcTo wR="96896" hR="96896" stAng="10800000" swAng="5400000"/>
                <a:lnTo>
                  <a:pt x="5049912" y="0"/>
                </a:lnTo>
                <a:arcTo wR="96896" hR="96896" stAng="16200000" swAng="5400000"/>
                <a:lnTo>
                  <a:pt x="5146808" y="375855"/>
                </a:lnTo>
                <a:lnTo>
                  <a:pt x="0" y="375855"/>
                </a:lnTo>
                <a:close/>
              </a:path>
            </a:pathLst>
          </a:custGeom>
          <a:solidFill>
            <a:srgbClr val="A9272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995274" y="1716559"/>
            <a:ext cx="101571" cy="101571"/>
          </a:xfrm>
          <a:prstGeom prst="roundRect">
            <a:avLst>
              <a:gd name="adj" fmla="val 50000"/>
            </a:avLst>
          </a:prstGeom>
          <a:solidFill>
            <a:srgbClr val="FBFB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1185701" y="1668270"/>
            <a:ext cx="4018404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kern="0" spc="150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FUNCIÓN 1 · POR CAFETERÍA SIMILAR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95274" y="2133057"/>
            <a:ext cx="304785" cy="304785"/>
          </a:xfrm>
          <a:prstGeom prst="roundRect">
            <a:avLst>
              <a:gd name="adj" fmla="val 50000"/>
            </a:avLst>
          </a:prstGeom>
          <a:solidFill>
            <a:srgbClr val="A92727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26986" y="2133057"/>
            <a:ext cx="4490311" cy="25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Cada reseña, un vector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26986" y="2386983"/>
            <a:ext cx="4490311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D434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 modelo multilingüe la convierte en 384 números.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95274" y="2732339"/>
            <a:ext cx="304785" cy="304785"/>
          </a:xfrm>
          <a:prstGeom prst="roundRect">
            <a:avLst>
              <a:gd name="adj" fmla="val 50000"/>
            </a:avLst>
          </a:prstGeom>
          <a:solidFill>
            <a:srgbClr val="A92727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26986" y="2732339"/>
            <a:ext cx="4490311" cy="25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Promedio por cafetería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26986" y="2986264"/>
            <a:ext cx="4490311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D434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 centra para que el parecido sí distinga entre lugares.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95274" y="3331620"/>
            <a:ext cx="304785" cy="304785"/>
          </a:xfrm>
          <a:prstGeom prst="roundRect">
            <a:avLst>
              <a:gd name="adj" fmla="val 50000"/>
            </a:avLst>
          </a:prstGeom>
          <a:solidFill>
            <a:srgbClr val="A92727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26986" y="3331620"/>
            <a:ext cx="4490311" cy="25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Las 3 más cercanas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26986" y="3585545"/>
            <a:ext cx="4490311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D434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Coseno contra las 1,111. Ej.: Marmalade Centro → Marmalade Luxury, 77 %.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26102" y="1577888"/>
            <a:ext cx="5149866" cy="2392686"/>
          </a:xfrm>
          <a:prstGeom prst="roundRect">
            <a:avLst>
              <a:gd name="adj" fmla="val 4114"/>
            </a:avLst>
          </a:prstGeom>
          <a:solidFill>
            <a:srgbClr val="FFFFFF"/>
          </a:solidFill>
          <a:ln w="6350">
            <a:solidFill>
              <a:srgbClr val="E3E8E8"/>
            </a:solidFill>
            <a:prstDash val="solid"/>
          </a:ln>
          <a:effectLst>
            <a:outerShdw blurRad="152400" dist="50800" dir="5400000" algn="bl" rotWithShape="0">
              <a:srgbClr val="282832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6227631" y="1579417"/>
            <a:ext cx="5146808" cy="375855"/>
          </a:xfrm>
          <a:custGeom>
            <a:avLst/>
            <a:gdLst/>
            <a:ahLst/>
            <a:cxnLst/>
            <a:rect l="l" t="t" r="r" b="b"/>
            <a:pathLst>
              <a:path w="5146808" h="375855">
                <a:moveTo>
                  <a:pt x="0" y="96896"/>
                </a:moveTo>
                <a:arcTo wR="96896" hR="96896" stAng="10800000" swAng="5400000"/>
                <a:lnTo>
                  <a:pt x="5049912" y="0"/>
                </a:lnTo>
                <a:arcTo wR="96896" hR="96896" stAng="16200000" swAng="5400000"/>
                <a:lnTo>
                  <a:pt x="5146808" y="375855"/>
                </a:lnTo>
                <a:lnTo>
                  <a:pt x="0" y="375855"/>
                </a:lnTo>
                <a:close/>
              </a:path>
            </a:pathLst>
          </a:custGeom>
          <a:solidFill>
            <a:srgbClr val="2828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6405416" y="1716559"/>
            <a:ext cx="101571" cy="101571"/>
          </a:xfrm>
          <a:prstGeom prst="roundRect">
            <a:avLst>
              <a:gd name="adj" fmla="val 50000"/>
            </a:avLst>
          </a:prstGeom>
          <a:solidFill>
            <a:srgbClr val="FBFB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6595843" y="1668270"/>
            <a:ext cx="3920332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kern="0" spc="150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FUNCIÓN 2 · POR CARACTERÍSTICAS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5416" y="2133057"/>
            <a:ext cx="304785" cy="304785"/>
          </a:xfrm>
          <a:prstGeom prst="roundRect">
            <a:avLst>
              <a:gd name="adj" fmla="val 50000"/>
            </a:avLst>
          </a:prstGeom>
          <a:solidFill>
            <a:srgbClr val="28283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37128" y="2133057"/>
            <a:ext cx="4490311" cy="25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Tu elección, una frase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37128" y="2386983"/>
            <a:ext cx="4490311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D434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«Es un lugar con ambiente tranquilo para trabajar»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5416" y="2732339"/>
            <a:ext cx="304785" cy="304785"/>
          </a:xfrm>
          <a:prstGeom prst="roundRect">
            <a:avLst>
              <a:gd name="adj" fmla="val 50000"/>
            </a:avLst>
          </a:prstGeom>
          <a:solidFill>
            <a:srgbClr val="28283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37128" y="2732339"/>
            <a:ext cx="4490311" cy="25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 frase, un vector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37128" y="2986264"/>
            <a:ext cx="4490311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D434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 el mismo modelo, calculado al momento.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5416" y="3331620"/>
            <a:ext cx="304785" cy="304785"/>
          </a:xfrm>
          <a:prstGeom prst="roundRect">
            <a:avLst>
              <a:gd name="adj" fmla="val 50000"/>
            </a:avLst>
          </a:prstGeom>
          <a:solidFill>
            <a:srgbClr val="28283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37128" y="3331620"/>
            <a:ext cx="4490311" cy="25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Las 10 más afines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837128" y="3585545"/>
            <a:ext cx="4490311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D434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Coseno contra el vector de cada cafetería.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2785" y="4484247"/>
            <a:ext cx="3937000" cy="995495"/>
          </a:xfrm>
          <a:prstGeom prst="roundRect">
            <a:avLst>
              <a:gd name="adj" fmla="val 7654"/>
            </a:avLst>
          </a:prstGeom>
          <a:solidFill>
            <a:srgbClr val="F4F4F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990571" y="4636604"/>
            <a:ext cx="3688873" cy="25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Puntaje = coseno × mín(1, n/5)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90571" y="4915957"/>
            <a:ext cx="3688873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D434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 = reseñas con texto: las cafeterías con menos de 5 pierden peso.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952927" y="4484247"/>
            <a:ext cx="3937000" cy="995495"/>
          </a:xfrm>
          <a:prstGeom prst="roundRect">
            <a:avLst>
              <a:gd name="adj" fmla="val 7654"/>
            </a:avLst>
          </a:prstGeom>
          <a:solidFill>
            <a:srgbClr val="F4F4F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5130712" y="4636604"/>
            <a:ext cx="3688873" cy="25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Sentimiento promedio → insignia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130712" y="4915957"/>
            <a:ext cx="3688873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D434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BERT califica cada reseña de 1 a 5; el promedio da positivo, neutro o negativo.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28" cy="76141"/>
          </a:xfrm>
          <a:prstGeom prst="rect">
            <a:avLst/>
          </a:prstGeom>
          <a:solidFill>
            <a:srgbClr val="77181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812785" y="609572"/>
            <a:ext cx="50785" cy="660356"/>
          </a:xfrm>
          <a:prstGeom prst="rect">
            <a:avLst/>
          </a:prstGeom>
          <a:solidFill>
            <a:srgbClr val="A9272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1041356" y="619714"/>
            <a:ext cx="5479032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kern="0" spc="200" dirty="0">
                <a:solidFill>
                  <a:srgbClr val="A9272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ESTRATEGIA</a:t>
            </a:r>
            <a:endParaRPr lang="en-US" sz="12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1041356" y="868645"/>
            <a:ext cx="6383338" cy="41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Tres accionables para Geometra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90571" y="1676285"/>
            <a:ext cx="3270175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kern="0" spc="100" dirty="0">
                <a:solidFill>
                  <a:srgbClr val="5B626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QUÉ HARÁ GEOMETRA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68639" y="1676285"/>
            <a:ext cx="3662605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kern="0" spc="100" dirty="0">
                <a:solidFill>
                  <a:srgbClr val="5B626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POR QUÉ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7707" y="1676285"/>
            <a:ext cx="2223695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kern="0" spc="100" dirty="0">
                <a:solidFill>
                  <a:srgbClr val="5B626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IMPACTO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5960" y="2004529"/>
            <a:ext cx="10204437" cy="734483"/>
          </a:xfrm>
          <a:prstGeom prst="roundRect">
            <a:avLst>
              <a:gd name="adj" fmla="val 13401"/>
            </a:avLst>
          </a:prstGeom>
          <a:solidFill>
            <a:srgbClr val="FFFFFF"/>
          </a:solidFill>
          <a:ln w="6350">
            <a:solidFill>
              <a:srgbClr val="E3E8E8"/>
            </a:solidFill>
            <a:prstDash val="solid"/>
          </a:ln>
          <a:effectLst>
            <a:outerShdw blurRad="152400" dist="50800" dir="5400000" algn="bl" rotWithShape="0">
              <a:srgbClr val="282832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995274" y="2193987"/>
            <a:ext cx="355571" cy="355571"/>
          </a:xfrm>
          <a:prstGeom prst="roundRect">
            <a:avLst>
              <a:gd name="adj" fmla="val 50000"/>
            </a:avLst>
          </a:prstGeom>
          <a:solidFill>
            <a:srgbClr val="A92727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3986" y="2252709"/>
            <a:ext cx="3270175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Ampliar y actualizar las reseñas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2054" y="2158414"/>
            <a:ext cx="3662605" cy="452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34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Hoy son máximo 25 por lugar, y 508 cafeterías sin reseñas con texto no se pueden recomendar.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91123" y="2221914"/>
            <a:ext cx="1928372" cy="299714"/>
          </a:xfrm>
          <a:prstGeom prst="roundRect">
            <a:avLst>
              <a:gd name="adj" fmla="val 50000"/>
            </a:avLst>
          </a:prstGeom>
          <a:solidFill>
            <a:srgbClr val="DEE7E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Más cafeterías en Locus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5960" y="2872290"/>
            <a:ext cx="10204437" cy="734483"/>
          </a:xfrm>
          <a:prstGeom prst="roundRect">
            <a:avLst>
              <a:gd name="adj" fmla="val 13401"/>
            </a:avLst>
          </a:prstGeom>
          <a:solidFill>
            <a:srgbClr val="FFFFFF"/>
          </a:solidFill>
          <a:ln w="6350">
            <a:solidFill>
              <a:srgbClr val="E3E8E8"/>
            </a:solidFill>
            <a:prstDash val="solid"/>
          </a:ln>
          <a:effectLst>
            <a:outerShdw blurRad="152400" dist="50800" dir="5400000" algn="bl" rotWithShape="0">
              <a:srgbClr val="282832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995274" y="3061745"/>
            <a:ext cx="355571" cy="355571"/>
          </a:xfrm>
          <a:prstGeom prst="roundRect">
            <a:avLst>
              <a:gd name="adj" fmla="val 50000"/>
            </a:avLst>
          </a:prstGeom>
          <a:solidFill>
            <a:srgbClr val="A92727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53986" y="3120467"/>
            <a:ext cx="3378068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Probar Locus con personas usuarias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2054" y="3026175"/>
            <a:ext cx="3662605" cy="452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34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Aún no hay pruebas de uso: medir tiempos, errores y dudas con tareas reales.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91123" y="3089675"/>
            <a:ext cx="1646517" cy="299714"/>
          </a:xfrm>
          <a:prstGeom prst="roundRect">
            <a:avLst>
              <a:gd name="adj" fmla="val 50000"/>
            </a:avLst>
          </a:prstGeom>
          <a:solidFill>
            <a:srgbClr val="DEE7E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Validar la usabilidad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5960" y="3740048"/>
            <a:ext cx="10204437" cy="947840"/>
          </a:xfrm>
          <a:prstGeom prst="roundRect">
            <a:avLst>
              <a:gd name="adj" fmla="val 10384"/>
            </a:avLst>
          </a:prstGeom>
          <a:solidFill>
            <a:srgbClr val="FFFFFF"/>
          </a:solidFill>
          <a:ln w="6350">
            <a:solidFill>
              <a:srgbClr val="E3E8E8"/>
            </a:solidFill>
            <a:prstDash val="solid"/>
          </a:ln>
          <a:effectLst>
            <a:outerShdw blurRad="152400" dist="50800" dir="5400000" algn="bl" rotWithShape="0">
              <a:srgbClr val="282832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995274" y="4036147"/>
            <a:ext cx="355571" cy="355571"/>
          </a:xfrm>
          <a:prstGeom prst="roundRect">
            <a:avLst>
              <a:gd name="adj" fmla="val 50000"/>
            </a:avLst>
          </a:prstGeom>
          <a:solidFill>
            <a:srgbClr val="A92727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53986" y="3975807"/>
            <a:ext cx="3270175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9101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Lanzar el análisis para dueños de cafeterías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2054" y="3893933"/>
            <a:ext cx="3662605" cy="665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34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Sus clientes se quejan sobre todo del servicio: «pésimo servicio» aparece 109 veces en reseñas negativas.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91123" y="4064074"/>
            <a:ext cx="1379508" cy="299714"/>
          </a:xfrm>
          <a:prstGeom prst="roundRect">
            <a:avLst>
              <a:gd name="adj" fmla="val 50000"/>
            </a:avLst>
          </a:prstGeom>
          <a:solidFill>
            <a:srgbClr val="282832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Nueva línea B2B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785" y="6304214"/>
            <a:ext cx="8110145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5B626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Fuente: elaboración propia con base en los resultados del proyecto.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828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28" cy="76141"/>
          </a:xfrm>
          <a:prstGeom prst="rect">
            <a:avLst/>
          </a:prstGeom>
          <a:solidFill>
            <a:srgbClr val="A9272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8635928" y="952426"/>
            <a:ext cx="2743141" cy="2743141"/>
          </a:xfrm>
          <a:prstGeom prst="roundRect">
            <a:avLst>
              <a:gd name="adj" fmla="val 5556"/>
            </a:avLst>
          </a:prstGeom>
          <a:solidFill>
            <a:srgbClr val="FBFBF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Código QR que abre geometra-locus.vercel.ap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64572" y="1181072"/>
            <a:ext cx="2285927" cy="22859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94781" y="3835357"/>
            <a:ext cx="2825436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C6D6D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Escanea para abrirla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12785" y="609572"/>
            <a:ext cx="50785" cy="660356"/>
          </a:xfrm>
          <a:prstGeom prst="rect">
            <a:avLst/>
          </a:prstGeom>
          <a:solidFill>
            <a:srgbClr val="A9272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1041356" y="619714"/>
            <a:ext cx="2823922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kern="0" spc="200" dirty="0">
                <a:solidFill>
                  <a:srgbClr val="C6D6D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DEMO</a:t>
            </a:r>
            <a:endParaRPr lang="en-US" sz="1200" dirty="0"/>
          </a:p>
        </p:txBody>
      </p:sp>
      <p:sp>
        <p:nvSpPr>
          <p:cNvPr id="8" name="Text 5"/>
          <p:cNvSpPr>
            <a:spLocks noGrp="1"/>
          </p:cNvSpPr>
          <p:nvPr>
            <p:ph type="title"/>
          </p:nvPr>
        </p:nvSpPr>
        <p:spPr>
          <a:xfrm>
            <a:off x="1041356" y="868642"/>
            <a:ext cx="3290006" cy="41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Pruébalo en vivo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812785" y="2307491"/>
            <a:ext cx="7365927" cy="0"/>
          </a:xfrm>
          <a:prstGeom prst="line">
            <a:avLst/>
          </a:prstGeom>
          <a:noFill/>
          <a:ln w="50800">
            <a:solidFill>
              <a:srgbClr val="A9272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812785" y="1625498"/>
            <a:ext cx="7586905" cy="584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geometra-locus.vercel.app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812785" y="2688462"/>
            <a:ext cx="406356" cy="406356"/>
          </a:xfrm>
          <a:prstGeom prst="roundRect">
            <a:avLst>
              <a:gd name="adj" fmla="val 50000"/>
            </a:avLst>
          </a:prstGeom>
          <a:solidFill>
            <a:srgbClr val="A92727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12785" y="3196388"/>
            <a:ext cx="2354580" cy="520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Entra como </a:t>
            </a:r>
            <a:r>
              <a:rPr lang="en-US" sz="1500" b="1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Usuario de Cafeterías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352712" y="2688462"/>
            <a:ext cx="406356" cy="406356"/>
          </a:xfrm>
          <a:prstGeom prst="roundRect">
            <a:avLst>
              <a:gd name="adj" fmla="val 50000"/>
            </a:avLst>
          </a:prstGeom>
          <a:solidFill>
            <a:srgbClr val="A92727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352712" y="3196388"/>
            <a:ext cx="2354656" cy="520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Elige una </a:t>
            </a:r>
            <a:r>
              <a:rPr lang="en-US" sz="1500" b="1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cafetería</a:t>
            </a:r>
            <a:r>
              <a:rPr lang="en-US" sz="1500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o unas </a:t>
            </a:r>
            <a:r>
              <a:rPr lang="en-US" sz="1500" b="1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características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892712" y="2688462"/>
            <a:ext cx="406356" cy="406356"/>
          </a:xfrm>
          <a:prstGeom prst="roundRect">
            <a:avLst>
              <a:gd name="adj" fmla="val 50000"/>
            </a:avLst>
          </a:prstGeom>
          <a:solidFill>
            <a:srgbClr val="A92727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892712" y="3196388"/>
            <a:ext cx="2354580" cy="520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Explora las </a:t>
            </a:r>
            <a:r>
              <a:rPr lang="en-US" sz="1500" b="1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tarjetas</a:t>
            </a:r>
            <a:r>
              <a:rPr lang="en-US" sz="1500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y el </a:t>
            </a:r>
            <a:r>
              <a:rPr lang="en-US" sz="1500" b="1" dirty="0">
                <a:solidFill>
                  <a:srgbClr val="FBFB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mapa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12785" y="6304211"/>
            <a:ext cx="8110145" cy="2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C6D6D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Vue 3 + TypeScript · FastAPI · Vercel + Railway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cus · Geometra — Presentación final">
  <a:themeElements>
    <a:clrScheme name="Locus · Geometra — Presentación final">
      <a:dk1>
        <a:srgbClr val="191013"/>
      </a:dk1>
      <a:lt1>
        <a:srgbClr val="FBFBF8"/>
      </a:lt1>
      <a:dk2>
        <a:srgbClr val="524B4C"/>
      </a:dk2>
      <a:lt2>
        <a:srgbClr val="E4E4E1"/>
      </a:lt2>
      <a:accent1>
        <a:srgbClr val="A92727"/>
      </a:accent1>
      <a:accent2>
        <a:srgbClr val="77181E"/>
      </a:accent2>
      <a:accent3>
        <a:srgbClr val="AB8083"/>
      </a:accent3>
      <a:accent4>
        <a:srgbClr val="791C22"/>
      </a:accent4>
      <a:accent5>
        <a:srgbClr val="A70226"/>
      </a:accent5>
      <a:accent6>
        <a:srgbClr val="F88C51"/>
      </a:accent6>
      <a:hlink>
        <a:srgbClr val="0563C1"/>
      </a:hlink>
      <a:folHlink>
        <a:srgbClr val="954F72"/>
      </a:folHlink>
    </a:clrScheme>
    <a:fontScheme name="Locus · Geometra — Presentación final">
      <a:majorFont>
        <a:latin typeface="Figtre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Figtre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727</Words>
  <Application>Microsoft Office PowerPoint</Application>
  <PresentationFormat>Panorámica</PresentationFormat>
  <Paragraphs>142</Paragraphs>
  <Slides>8</Slides>
  <Notes>8</Notes>
  <HiddenSlides>3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Figtree</vt:lpstr>
      <vt:lpstr>Locus · Geometra — Presentación final</vt:lpstr>
      <vt:lpstr>Locus</vt:lpstr>
      <vt:lpstr>Las cafeterías se concentran en el centro y el norte</vt:lpstr>
      <vt:lpstr>Las estrellas son altas en toda la ciudad</vt:lpstr>
      <vt:lpstr>La diferencia está en lo que escriben</vt:lpstr>
      <vt:lpstr>Locus compara cafeterías por sus reseñas</vt:lpstr>
      <vt:lpstr>De las reseñas a la recomendación</vt:lpstr>
      <vt:lpstr>Tres accionables para Geometra</vt:lpstr>
      <vt:lpstr>Pruébalo en vivo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Locus · Geometra — Presentación final</dc:title>
  <dc:subject/>
  <dc:creator/>
  <cp:lastModifiedBy>Aarón Eduardo Arceo Arjona</cp:lastModifiedBy>
  <cp:revision>1</cp:revision>
  <dcterms:created xsi:type="dcterms:W3CDTF">2026-10-01T23:13:28Z</dcterms:created>
  <dcterms:modified xsi:type="dcterms:W3CDTF">2026-10-02T05:40:20Z</dcterms:modified>
</cp:coreProperties>
</file>